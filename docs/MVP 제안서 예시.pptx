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7772400" cy="7772400"/>
          </a:xfrm>
          <a:prstGeom prst="ellipse">
            <a:avLst/>
          </a:prstGeom>
          <a:solidFill>
            <a:srgbClr val="141B4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4023360" cy="4023360"/>
          </a:xfrm>
          <a:prstGeom prst="ellipse">
            <a:avLst/>
          </a:prstGeom>
          <a:solidFill>
            <a:srgbClr val="0F6B7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F6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준법자문가 AI Agent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제안서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12700">
            <a:solidFill>
              <a:srgbClr val="5A6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JB금융그룹 AX전략부 제안   |   전북은행·광주은행·JB우리캐피탈 공통 적용   |   2026. 07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JB·BNK·iM 공동 AI 거버넌스를 현장에서 구현하는 실행형 준법자문 어시스턴트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규제는 빠르게 늘고, 준법 검토 인력과 계열사 간 기준은 이를 따라가지 못하고 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457200" cy="45720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 복잡성 증가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은행법·금융소비자보호법·전자금융거래법 등 잦은 개정으로 현업 임직원이 최신 규정을 실시간으로 숙지하기 어려움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221992"/>
            <a:ext cx="457200" cy="45720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1671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병목 심화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71576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 1인당 검토해야 할 질의·서류가 빠르게 늘며 상담·상품 출시 일정이 지연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416552"/>
            <a:ext cx="457200" cy="45720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3616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계열사 간 상이한 기준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91032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전북은행·광주은행·JB우리캐피탈의 내부통제 프로세스와 해석 기준이 달라 리스크 관리 사각지대 발생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160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4416552"/>
            <a:ext cx="457200" cy="45720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3616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 시 파급 리스크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91032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표시광고·금소법 위반 적발은 금전적 제재는 물론 그룹 전체의 평판 손상으로 직결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 · 준법자문가 AI Agent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 솔루션 개요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준법자문 + Human-in-the-loop 구조로 AI 거버넌스를 실행하는 Compliance AI Agent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JB·BNK·iM 3사 공동 AI 거버넌스의 원칙과 리스크 관리 요구사항을 현업 업무 흐름 속에서 실행하는 도구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34540" y="3172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0345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 입력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영업점·심사역·마케팅 담당자가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또는 그룹웨어로 자연어 질의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18788" y="41559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88036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83580" y="3172968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5" name="Text 13"/>
          <p:cNvSpPr/>
          <p:nvPr/>
        </p:nvSpPr>
        <p:spPr>
          <a:xfrm>
            <a:off x="57835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검증·생성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343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법령·내부규정 검색 후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근거조항을 포함한 답변 생성 및 리스크 판정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67828" y="41559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88036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2620" y="3172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5326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승인·응답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4343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저위험은 즉시 제공, 고위험은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 검토를 거쳐 최종 통보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 · 준법자문가 AI Agent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기능 정의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단계에서 구현하는 6가지 핵심 기능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법규·규정 질의응답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2783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법령·내부규정 검색 및 근거조항 제시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상품·광고 문구 사전검토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22783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표시광고법·금소법 위반 소지 자동 탐지·수정안 제안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965960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194560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58200" y="274320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 체크리스트 자동생성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322783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유형별 필수 준수사항 자동 생성·진행 추적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782312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 변경 모니터링·알림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26694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 개정·유권해석·제재사례 상시 모니터링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4005072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4233672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782312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 검토 라우팅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526694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스코어링 기반 Human-in-the-loop 승인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4005072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233672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58200" y="4782312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감사증적 자동 기록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526694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질의·응답·승인 이력의 자동 로그화 및 감사 대응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 · 준법자문가 AI Agent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TECHNOLOGY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및 기술 활용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폐쇄망 환경의 RAG 아키텍처로 정확성과 보안을 함께 확보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843784"/>
            <a:ext cx="128016" cy="128016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15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검색엔진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3044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내부규정·법령·판례 임베딩 기반 정밀 검색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666744"/>
            <a:ext cx="128016" cy="128016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38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금융특화 LLM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88720" y="38679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sLLM(내재화) + 외부 상용 LLM 하이브리드 구성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489704"/>
            <a:ext cx="128016" cy="128016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361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모듈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4690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검증, 민감정보 마스킹, 리스크 스코어링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5312664"/>
            <a:ext cx="128016" cy="128016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184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폐쇄망·온프레미스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8720" y="5513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고객정보·내부규정은 외부 유출 없이 그룹 내부 처리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29400" y="2843784"/>
            <a:ext cx="128016" cy="128016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715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내부규정·업무매뉴얼 DB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03720" y="3044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그룹·계열사 내부통제 기준 및 업무 매뉴얼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3666744"/>
            <a:ext cx="128016" cy="128016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538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금융법령·유권해석 DB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03720" y="38679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은행법·금소법 등 관계법령, 금융위·금감원 유권해석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29400" y="4489704"/>
            <a:ext cx="128016" cy="128016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4361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판례·제재사례 DB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03720" y="4690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감독당국 제재 사례 및 관련 판례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9400" y="5312664"/>
            <a:ext cx="128016" cy="128016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5184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상품약관·광고심의기준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03720" y="5513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상품설명서, 약관, 광고 심의 가이드라인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 · 준법자문가 AI Agent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사용자 시나리오 / 유즈케이스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대표 페르소나로 살펴보는 실제 업무 흐름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58568"/>
            <a:ext cx="548640" cy="54864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2585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영업점 직원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예금 상품 마케팅 문구 검토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18211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안내 문구 초안을 Compliance AI에 업로드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409651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금소법·표시광고법 위반 소지 문구를 자동 식별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01091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수정안 즉시 제안 → 저위험 판정 시 바로 사용 승인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258568"/>
            <a:ext cx="548640" cy="54864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2585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2560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고위험 여신 상담 건에 대한 최종 검토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200400"/>
            <a:ext cx="457200" cy="45720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318211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근거조항과 리스크 점수를 포함한 검토 큐 수신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4114800"/>
            <a:ext cx="457200" cy="45720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78040" y="409651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응답과 원문 근거를 대조해 신속하게 검토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5029200"/>
            <a:ext cx="457200" cy="45720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78040" y="501091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승인/반려 처리 → 이력이 감사증적으로 자동 저장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 · 준법자문가 AI Agent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743200"/>
            <a:ext cx="6858000" cy="6858000"/>
          </a:xfrm>
          <a:prstGeom prst="ellipse">
            <a:avLst/>
          </a:prstGeom>
          <a:solidFill>
            <a:srgbClr val="141B49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효과 및 향후 확장성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속도 향상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 문의 대응을</a:t>
            </a:r>
            <a:endParaRPr lang="en-US" sz="10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시간에서 수 분 이내로 단축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B49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581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리소스 절감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9842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저위험 문의는 AI가 즉시 처리,</a:t>
            </a:r>
            <a:endParaRPr lang="en-US" sz="10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준법감시인은 고위험 사안에 집중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B4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581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사전 통제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9842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광고·상품 문구 사전검증으로</a:t>
            </a:r>
            <a:endParaRPr lang="en-US" sz="10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제재·평판 리스크를 선제적으로 차단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91540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B49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581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대응력 강화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98280" y="19842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질의·근거·승인 이력 자동화로</a:t>
            </a:r>
            <a:endParaRPr lang="en-US" sz="10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당국 대응자료를 즉시 확보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확장 로드맵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63171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· MVP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전북은행 여신·수신 상담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실증 및 효과 검증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42232" y="4814316"/>
            <a:ext cx="201168" cy="201168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0832" y="37490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63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023360"/>
            <a:ext cx="457200" cy="457200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· 확장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광주은행·JB우리캐피탈 확대,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3사 공동 리스크 대시보드 구축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64424" y="4814316"/>
            <a:ext cx="201168" cy="201168"/>
          </a:xfrm>
          <a:prstGeom prst="ellipse">
            <a:avLst/>
          </a:prstGeom>
          <a:solidFill>
            <a:srgbClr val="9FD8DA"/>
          </a:solidFill>
          <a:ln/>
        </p:spPr>
      </p:sp>
      <p:sp>
        <p:nvSpPr>
          <p:cNvPr id="30" name="Shape 28"/>
          <p:cNvSpPr/>
          <p:nvPr/>
        </p:nvSpPr>
        <p:spPr>
          <a:xfrm>
            <a:off x="8193024" y="37490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F6B72"/>
          </a:solidFill>
          <a:ln/>
        </p:spPr>
      </p:sp>
      <p:sp>
        <p:nvSpPr>
          <p:cNvPr id="31" name="Shape 29"/>
          <p:cNvSpPr/>
          <p:nvPr/>
        </p:nvSpPr>
        <p:spPr>
          <a:xfrm>
            <a:off x="8467344" y="4023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46734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6734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67344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· 고도화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67344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예방형 컴플라이언스로 진화,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전략의 표준 플랫폼화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 · 준법자문가 AI Agent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AI - 준법자문가 AI Agent MVP 제안서</dc:title>
  <dc:subject>PptxGenJS Presentation</dc:subject>
  <dc:creator>JB금융그룹 AX전략부</dc:creator>
  <cp:lastModifiedBy>JB금융그룹 AX전략부</cp:lastModifiedBy>
  <cp:revision>1</cp:revision>
  <dcterms:created xsi:type="dcterms:W3CDTF">2026-07-02T05:01:54Z</dcterms:created>
  <dcterms:modified xsi:type="dcterms:W3CDTF">2026-07-02T05:01:54Z</dcterms:modified>
</cp:coreProperties>
</file>